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embeddedFontLst>
    <p:embeddedFont>
      <p:font typeface="Plus Jakarta Sans"/>
      <p:bold r:id="rId12"/>
    </p:embeddedFont>
    <p:embeddedFont>
      <p:font typeface="Space Grotesk"/>
      <p:bold r:id="rId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75"/>
  </p:normalViewPr>
  <p:slideViewPr>
    <p:cSldViewPr snapToGrid="0" snapToObjects="1">
      <p:cViewPr varScale="1">
        <p:scale>
          <a:sx n="102" d="100"/>
          <a:sy n="102" d="100"/>
        </p:scale>
        <p:origin x="192" y="4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750939"/>
            <a:ext cx="3378249" cy="2184796"/>
          </a:xfrm>
          <a:prstGeom prst="roundRect">
            <a:avLst>
              <a:gd name="adj" fmla="val 610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406949" y="2750939"/>
            <a:ext cx="3378249" cy="2184796"/>
          </a:xfrm>
          <a:prstGeom prst="roundRect">
            <a:avLst>
              <a:gd name="adj" fmla="val 610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51899" y="2750939"/>
            <a:ext cx="3378249" cy="2184796"/>
          </a:xfrm>
          <a:prstGeom prst="roundRect">
            <a:avLst>
              <a:gd name="adj" fmla="val 610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25" y="3103364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274" y="3103364"/>
            <a:ext cx="457200" cy="457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224" y="3103364"/>
            <a:ext cx="4572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0150" y="3227189"/>
            <a:ext cx="209550" cy="2095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9387" y="3227189"/>
            <a:ext cx="180975" cy="2095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4336" y="3227189"/>
            <a:ext cx="180975" cy="2095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2000" y="1009650"/>
            <a:ext cx="114300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Treetino: Co-Own the Clean Energy Grid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609600"/>
            <a:ext cx="2559843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Space Grotesk"/>
              </a:rPr>
              <a:t>SLIDE 01 / 10 • TRACK 2 (STABLECOINS) + TRACK 4 (ONBOARDING)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48950" y="609600"/>
            <a:ext cx="1066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pace Grotesk"/>
              </a:rPr>
              <a:t>TREETINO DEPIN RWA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6325" y="3751064"/>
            <a:ext cx="360884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Flipping Passive Bill-Payers into Direct Energy Owners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6325" y="4103489"/>
            <a:ext cx="2844849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Fractional ownership of EV hubs, utility BESS &amp; smart trees with instant USDC micro-dividends.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1274" y="3751064"/>
            <a:ext cx="360884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USD 3 Trillion Grid Transition, 0% Public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1274" y="4103489"/>
            <a:ext cx="2844849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Anyone can buy $10 of Bitcoin, yet everyday people are locked out of 14-30% IRR energy infrastructure.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224" y="3751064"/>
            <a:ext cx="360884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Hardware-Signed Telemetry + Instant Stablecoin Payouts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224" y="4103489"/>
            <a:ext cx="2844849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Every kWh from Victron Cerbo GX &amp; EV kiosks settles in micro-USDC directly to investor wallets.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34075" y="2659409"/>
            <a:ext cx="5495925" cy="2367855"/>
          </a:xfrm>
          <a:prstGeom prst="roundRect">
            <a:avLst>
              <a:gd name="adj" fmla="val 6436"/>
            </a:avLst>
          </a:prstGeom>
          <a:solidFill>
            <a:srgbClr val="FEF2F2"/>
          </a:solidFill>
          <a:ln w="9525">
            <a:solidFill>
              <a:srgbClr val="FE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62000" y="2881312"/>
            <a:ext cx="4714875" cy="514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62000" y="3586162"/>
            <a:ext cx="4714875" cy="514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62000" y="4291012"/>
            <a:ext cx="4714875" cy="514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2000" y="2881312"/>
            <a:ext cx="38100" cy="51435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62000" y="3586162"/>
            <a:ext cx="38100" cy="5143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2000" y="4291012"/>
            <a:ext cx="38100" cy="5143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1537" y="3126134"/>
            <a:ext cx="381000" cy="381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0" y="1009650"/>
            <a:ext cx="114300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Problem: The $3T Energy Monopoly &amp; Broken Settlement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09600"/>
            <a:ext cx="252412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DC2626"/>
                </a:solidFill>
                <a:latin typeface="Space Grotesk"/>
              </a:rPr>
              <a:t>SLIDE 02 / 10 • 0:00-0:30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53725" y="609600"/>
            <a:ext cx="96202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pace Grotesk"/>
              </a:rPr>
              <a:t>MARKET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2912" y="3659534"/>
            <a:ext cx="123825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DC2626"/>
                </a:solidFill>
                <a:latin typeface="Space Grotesk"/>
              </a:rPr>
              <a:t>WHY 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62662" y="3907184"/>
            <a:ext cx="5238750" cy="3199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 i="0" u="none">
                <a:solidFill>
                  <a:srgbClr val="991B1B"/>
                </a:solidFill>
                <a:latin typeface="Plus Jakarta Sans"/>
              </a:rPr>
              <a:t>"Grid volatility is exploding, but retail &amp; SMEs only get the bill."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1584" y="4360515"/>
            <a:ext cx="344090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7F1D1D"/>
                </a:solidFill>
                <a:latin typeface="Plus Jakarta Sans"/>
              </a:rPr>
              <a:t>Midday negative solar prices &amp; evening spikes make BESS &amp; EV hubs 25-35% IRR cash machines.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600" y="2881312"/>
            <a:ext cx="5888235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Zero Retail Access to Infrastructure Yield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0600" y="3176587"/>
            <a:ext cx="5607843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Plus Jakarta Sans"/>
              </a:rPr>
              <a:t>High-yield grid balancing (CEPS) and EV fast-charging require millions in capex and institutional lockups.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600" y="3586162"/>
            <a:ext cx="5888235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Slow, Opaque Legacy Energy Billing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0600" y="3881437"/>
            <a:ext cx="5607843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Plus Jakarta Sans"/>
              </a:rPr>
              <a:t>Traditional energy settlements take 30-90 days with high banking fees—impossible for micro-investors.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600" y="4291012"/>
            <a:ext cx="5888235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On-Chain Friction Blocks Mainstream Capital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0600" y="4586287"/>
            <a:ext cx="5607843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Plus Jakarta Sans"/>
              </a:rPr>
              <a:t>Crypto wallets &amp; gas fees scare off 95% of everyday investors and EV drivers who just want to tap a card.</a:t>
            </a:r>
          </a:p>
        </p:txBody>
      </p:sp>
    </p:spTree>
  </p:cSld>
  <p:clrMapOvr>
    <a:masterClrMapping/>
  </p:clrMapOvr>
</p:sld>
</file>

<file path=ppt/slides/slide3.xml><?xml version="1.0" encoding="UTF-8" standalone="yes"?>
<p:sld xmlns:a="http://schemas.openxmlformats.org/drawingml/2006/main" xmlns:r="http://schemas.openxmlformats.org/officeDocument/2006/relationships" xmlns:p="http://schemas.openxmlformats.org/presentationml/2006/main"><p:cSld><p:bg><p:bgPr><a:solidFill><a:srgbClr val="FFFFFF"/></a:solidFill><a:effectLst/></p:bgPr></p:bg><p:spTree><p:nvGrpSpPr><p:cNvPr id="1" name=""/><p:cNvGrpSpPr/><p:nvPr/></p:nvGrpSpPr><p:grpSpPr><a:xfrm><a:off x="0" y="0"/><a:ext cx="0" cy="0"/><a:chOff x="0" y="0"/><a:chExt cx="0" cy="0"/></a:xfrm></p:grpSpPr><p:sp><p:nvSpPr><p:cNvPr id="2" name="Rounded Rectangle 1"/><p:cNvSpPr/><p:nvPr/></p:nvSpPr><p:spPr><a:xfrm><a:off x="762000" y="3009900"/><a:ext cx="3403550" cy="1666875"/></a:xfrm><a:prstGeom prst="roundRect"><a:avLst><a:gd name="adj" fmla="val 6857"/></a:avLst></a:prstGeom><a:solidFill><a:srgbClr val="F0FDF4"/></a:solidFill><a:ln w="9525"><a:solidFill><a:srgbClr val="DCFCE7"/></a:solidFill></a:ln><a:effectLst/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a:endParaRPr/></a:p></p:txBody></p:sp><p:sp><p:nvSpPr><p:cNvPr id="3" name="Rounded Rectangle 2"/><p:cNvSpPr/><p:nvPr/></p:nvSpPr><p:spPr><a:xfrm><a:off x="4394150" y="3009900"/><a:ext cx="3403550" cy="1666875"/></a:xfrm><a:prstGeom prst="roundRect"><a:avLst><a:gd name="adj" fmla="val 6857"/></a:avLst></a:prstGeom><a:solidFill><a:srgbClr val="F8FAFC"/></a:solidFill><a:ln w="9525"><a:solidFill><a:srgbClr val="E2E8F0"/></a:solidFill></a:ln><a:effectLst/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a:endParaRPr/></a:p></p:txBody></p:sp><p:sp><p:nvSpPr><p:cNvPr id="4" name="Rounded Rectangle 3"/><p:cNvSpPr/><p:nvPr/></p:nvSpPr><p:spPr><a:xfrm><a:off x="8026300" y="3009900"/><a:ext cx="3403550" cy="1666875"/></a:xfrm><a:prstGeom prst="roundRect"><a:avLst><a:gd name="adj" fmla="val 6857"/></a:avLst></a:prstGeom><a:solidFill><a:srgbClr val="F8FAFC"/></a:solidFill><a:ln w="9525"><a:solidFill><a:srgbClr val="E2E8F0"/></a:solidFill></a:ln><a:effectLst/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a:endParaRPr/></a:p></p:txBody></p:sp><p:sp><p:nvSpPr><p:cNvPr id="5" name="TextBox 4"/><p:cNvSpPr txBox="1"/><p:nvPr/></p:nvSpPr><p:spPr><a:xfrm><a:off x="762000" y="1009650"/><a:ext cx="11430000" cy="428625"/></a:xfrm><a:prstGeom prst="rect"><a:avLst/></a:prstGeom><a:noFill/></p:spPr><p:txBody><a:bodyPr wrap="none" lIns="0" tIns="0" rIns="0" bIns="0" anchor="t"><a:spAutoFit/></a:bodyPr><a:lstStyle/><a:p><a:pPr algn="l"/><a:r><a:rPr sz="2700" b="1" i="0" u="none"><a:solidFill><a:srgbClr val="0F172A"/></a:solidFill><a:latin typeface="Plus Jakarta Sans"/></a:rPr><a:t>Solution: Built During the Hackathon (After hackathon-start)</a:t></a:r></a:p></p:txBody></p:sp><p:sp><p:nvSpPr><p:cNvPr id="6" name="TextBox 5"/><p:cNvSpPr txBox="1"/><p:nvPr/></p:nvSpPr><p:spPr><a:xfrm><a:off x="762000" y="609600"/><a:ext cx="2303859" cy="171450"/></a:xfrm><a:prstGeom prst="rect"><a:avLst/></a:prstGeom><a:noFill/></p:spPr><p:txBody><a:bodyPr wrap="none" lIns="0" tIns="0" rIns="0" bIns="0" anchor="t"><a:spAutoFit/></a:bodyPr><a:lstStyle/><a:p><a:pPr algn="l"/><a:r><a:rPr sz="1050" b="1" i="0" u="none"><a:solidFill><a:srgbClr val="059669"/></a:solidFill><a:latin typeface="Space Grotesk"/></a:rPr><a:t>SLIDE 03 / 10 • 0:30-0:40 DELTA &amp; ARCHITECTURE</a:t></a:r></a:p></p:txBody></p:sp><p:sp><p:nvSpPr><p:cNvPr id="7" name="TextBox 6"/><p:cNvSpPr txBox="1"/><p:nvPr/></p:nvSpPr><p:spPr><a:xfrm><a:off x="10277475" y="609600"/><a:ext cx="1440656" cy="171450"/></a:xfrm><a:prstGeom prst="rect"><a:avLst/></a:prstGeom><a:noFill/></p:spPr><p:txBody><a:bodyPr wrap="none" lIns="0" tIns="0" rIns="0" bIns="0" anchor="t"><a:spAutoFit/></a:bodyPr><a:lstStyle/><a:p><a:pPr algn="l"/><a:r><a:rPr sz="1050" b="0" i="0" u="none"><a:solidFill><a:srgbClr val="0F172A"/></a:solidFill><a:latin typeface="Space Grotesk"/></a:rPr><a:t>NOT A GPT WRAPPER</a:t></a:r></a:p></p:txBody></p:sp><p:sp><p:nvSpPr><p:cNvPr id="8" name="TextBox 7"/><p:cNvSpPr txBox="1"/><p:nvPr/></p:nvSpPr><p:spPr><a:xfrm><a:off x="1000125" y="3324225"/><a:ext cx="3659125" cy="171450"/></a:xfrm><a:prstGeom prst="rect"><a:avLst/></a:prstGeom><a:noFill/></p:spPr><p:txBody><a:bodyPr wrap="none" lIns="0" tIns="0" rIns="0" bIns="0" anchor="t"><a:spAutoFit/></a:bodyPr><a:lstStyle/><a:p><a:pPr algn="l"/><a:r><a:rPr sz="1050" b="1" i="0" u="none"><a:solidFill><a:srgbClr val="059669"/></a:solidFill><a:latin typeface="Space Grotesk"/></a:rPr><a:t>01 • PRE-EXISTING VS. BUILT HERE</a:t></a:r></a:p></p:txBody></p:sp><p:sp><p:nvSpPr><p:cNvPr id="9" name="TextBox 8"/><p:cNvSpPr txBox="1"/><p:nvPr/></p:nvSpPr><p:spPr><a:xfrm><a:off x="1000125" y="3571875"/><a:ext cx="3842081" cy="238125"/></a:xfrm><a:prstGeom prst="rect"><a:avLst/></a:prstGeom><a:noFill/></p:spPr><p:txBody><a:bodyPr wrap="none" lIns="0" tIns="0" rIns="0" bIns="0" anchor="t"><a:spAutoFit/></a:bodyPr><a:lstStyle/><a:p><a:pPr algn="l"/><a:r><a:rPr sz="1500" b="1" i="0" u="none"><a:solidFill><a:srgbClr val="064E3B"/></a:solidFill><a:latin typeface="Plus Jakarta Sans"/></a:rPr><a:t>Authoritative Device &amp; Payment Ledger</a:t></a:r></a:p></p:txBody></p:sp><p:sp><p:nvSpPr><p:cNvPr id="10" name="TextBox 9"/><p:cNvSpPr txBox="1"/><p:nvPr/></p:nvSpPr><p:spPr><a:xfrm><a:off x="1000125" y="3924300"/><a:ext cx="3022550" cy="438150"/></a:xfrm><a:prstGeom prst="rect"><a:avLst/></a:prstGeom><a:noFill/></p:spPr><p:txBody><a:bodyPr wrap="square" lIns="0" tIns="0" rIns="0" bIns="0" anchor="t"><a:spAutoFit/></a:bodyPr><a:lstStyle/><a:p><a:pPr algn="l"/><a:r><a:rPr sz="1350" b="0" i="0" u="none"><a:solidFill><a:srgbClr val="166534"/></a:solidFill><a:latin typeface="Plus Jakarta Sans"/></a:rPr><a:t>Pre-existing: Solana Anchor contract &amp; Victron UI. Built here: PostgreSQL ledger, EV kiosk &amp; MoonPay.</a:t></a:r></a:p></p:txBody></p:sp><p:sp><p:nvSpPr><p:cNvPr id="11" name="TextBox 10"/><p:cNvSpPr txBox="1"/><p:nvPr/></p:nvSpPr><p:spPr><a:xfrm><a:off x="4632275" y="3324225"/><a:ext cx="3659125" cy="171450"/></a:xfrm><a:prstGeom prst="rect"><a:avLst/></a:prstGeom><a:noFill/></p:spPr><p:txBody><a:bodyPr wrap="none" lIns="0" tIns="0" rIns="0" bIns="0" anchor="t"><a:spAutoFit/></a:bodyPr><a:lstStyle/><a:p><a:pPr algn="l"/><a:r><a:rPr sz="1050" b="1" i="0" u="none"><a:solidFill><a:srgbClr val="2563EB"/></a:solidFill><a:latin typeface="Space Grotesk"/></a:rPr><a:t>02 • ONE-TAP CARD &amp; USDC ONBOARDING</a:t></a:r></a:p></p:txBody></p:sp><p:sp><p:nvSpPr><p:cNvPr id="12" name="TextBox 11"/><p:cNvSpPr txBox="1"/><p:nvPr/></p:nvSpPr><p:spPr><a:xfrm><a:off x="4632275" y="3571875"/><a:ext cx="3842081" cy="238125"/></a:xfrm><a:prstGeom prst="rect"><a:avLst/></a:prstGeom><a:noFill/></p:spPr><p:txBody><a:bodyPr wrap="none" lIns="0" tIns="0" rIns="0" bIns="0" anchor="t"><a:spAutoFit/></a:bodyPr><a:lstStyle/><a:p><a:pPr algn="l"/><a:r><a:rPr sz="1500" b="1" i="0" u="none"><a:solidFill><a:srgbClr val="0F172A"/></a:solidFill><a:latin typeface="Plus Jakarta Sans"/></a:rPr><a:t>MoonPay Sandbox + Direct USDC Engine</a:t></a:r></a:p></p:txBody></p:sp><p:sp><p:nvSpPr><p:cNvPr id="13" name="TextBox 12"/><p:cNvSpPr txBox="1"/><p:nvPr/></p:nvSpPr><p:spPr><a:xfrm><a:off x="4632275" y="3924300"/><a:ext cx="3659125" cy="219075"/></a:xfrm><a:prstGeom prst="rect"><a:avLst/></a:prstGeom><a:noFill/></p:spPr><p:txBody><a:bodyPr wrap="none" lIns="0" tIns="0" rIns="0" bIns="0" anchor="t"><a:spAutoFit/></a:bodyPr><a:lstStyle/><a:p><a:pPr algn="l"/><a:r><a:rPr sz="1350" b="0" i="0" u="none"><a:solidFill><a:srgbClr val="475569"/></a:solidFill><a:latin typeface="Plus Jakarta Sans"/></a:rPr><a:t>Built here: Verified card checkout reconciler &amp; instant Apple-Pay-style EV kiosk bill settlement.</a:t></a:r></a:p></p:txBody></p:sp><p:sp><p:nvSpPr><p:cNvPr id="14" name="TextBox 13"/><p:cNvSpPr txBox="1"/><p:nvPr/></p:nvSpPr><p:spPr><a:xfrm><a:off x="8264425" y="3324225"/><a:ext cx="3659125" cy="171450"/></a:xfrm><a:prstGeom prst="rect"><a:avLst/></a:prstGeom><a:noFill/></p:spPr><p:txBody><a:bodyPr wrap="none" lIns="0" tIns="0" rIns="0" bIns="0" anchor="t"><a:spAutoFit/></a:bodyPr><a:lstStyle/><a:p><a:pPr algn="l"/><a:r><a:rPr sz="1050" b="1" i="0" u="none"><a:solidFill><a:srgbClr val="7C3AED"/></a:solidFill><a:latin typeface="Space Grotesk"/></a:rPr><a:t>03 • EXACT MICRO-USDC WATERFALL</a:t></a:r></a:p></p:txBody></p:sp><p:sp><p:nvSpPr><p:cNvPr id="15" name="TextBox 14"/><p:cNvSpPr txBox="1"/><p:nvPr/></p:nvSpPr><p:spPr><a:xfrm><a:off x="8264425" y="3571875"/><a:ext cx="3842081" cy="238125"/></a:xfrm><a:prstGeom prst="rect"><a:avLst/></a:prstGeom><a:noFill/></p:spPr><p:txBody><a:bodyPr wrap="none" lIns="0" tIns="0" rIns="0" bIns="0" anchor="t"><a:spAutoFit/></a:bodyPr><a:lstStyle/><a:p><a:pPr algn="l"/><a:r><a:rPr sz="1500" b="1" i="0" u="none"><a:solidFill><a:srgbClr val="0F172A"/></a:solidFill><a:latin typeface="Plus Jakarta Sans"/></a:rPr><a:t>Real-Time Revenue Distribution</a:t></a:r></a:p></p:txBody></p:sp><p:sp><p:nvSpPr><p:cNvPr id="16" name="TextBox 15"/><p:cNvSpPr txBox="1"/><p:nvPr/></p:nvSpPr><p:spPr><a:xfrm><a:off x="8264425" y="3924300"/><a:ext cx="3659125" cy="219075"/></a:xfrm><a:prstGeom prst="rect"><a:avLst/></a:prstGeom><a:noFill/></p:spPr><p:txBody><a:bodyPr wrap="none" lIns="0" tIns="0" rIns="0" bIns="0" anchor="t"><a:spAutoFit/></a:bodyPr><a:lstStyle/><a:p><a:pPr algn="l"/><a:r><a:rPr sz="1350" b="0" i="0" u="none"><a:solidFill><a:srgbClr val="475569"/></a:solidFill><a:latin typeface="Plus Jakarta Sans"/></a:rPr><a:t>Built here: 100% of paid EV charging bills split in exact integer micro-USDC across contributors in <1s.</a:t></a:r></a:p></p:txBody></p:sp></p:spTree></p:cSld><p:clrMapOvr><a:masterClrMapping/></p:clrMapOvr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241181" y="2434639"/>
            <a:ext cx="3403550" cy="1679971"/>
          </a:xfrm>
          <a:prstGeom prst="roundRect">
            <a:avLst>
              <a:gd name="adj" fmla="val 6803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306" y="2748964"/>
            <a:ext cx="419100" cy="4191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2656" y="2872789"/>
            <a:ext cx="152400" cy="1714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2000" y="1009650"/>
            <a:ext cx="114300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Team Treetino: Industrial Energy Hardware x Fintech Execution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609600"/>
            <a:ext cx="214312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Space Grotesk"/>
              </a:rPr>
              <a:t>SLIDE 04 / 10 • TEAM &amp; TRACTION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34700" y="609600"/>
            <a:ext cx="78105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pace Grotesk"/>
              </a:rPr>
              <a:t>FOUNDERS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9306" y="3320464"/>
            <a:ext cx="3022550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Jakub Lustyk (CTO, Treetino - patented 49kW kinetic tree, 8.6MW BESS Prestice) &amp; Marian-Daniel Rolnik (Cleevio).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1756" y="2839452"/>
            <a:ext cx="426399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1500" b="1" i="0" u="none" dirty="0">
                <a:solidFill>
                  <a:srgbClr val="0F172A"/>
                </a:solidFill>
                <a:latin typeface="Plus Jakarta Sans"/>
              </a:rPr>
              <a:t>5 Contracted Treetino V1 Units (MKovo) • 8.6 MW CEZ Interconnection Secured</a:t>
            </a:r>
            <a:endParaRPr sz="1500" b="1" i="0" u="none" dirty="0">
              <a:solidFill>
                <a:srgbClr val="0F172A"/>
              </a:solidFill>
              <a:latin typeface="Plus Jakarta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033587"/>
            <a:ext cx="5835997" cy="3619500"/>
          </a:xfrm>
          <a:prstGeom prst="roundRect">
            <a:avLst>
              <a:gd name="adj" fmla="val 421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940897" y="2900362"/>
            <a:ext cx="4489102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940897" y="3605212"/>
            <a:ext cx="4489102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940897" y="4310062"/>
            <a:ext cx="4489102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940897" y="2900362"/>
            <a:ext cx="28575" cy="4762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940897" y="3605212"/>
            <a:ext cx="28575" cy="4762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0897" y="4310062"/>
            <a:ext cx="28575" cy="4762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024" y="3195637"/>
            <a:ext cx="685800" cy="6858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3249" y="3424237"/>
            <a:ext cx="17145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2000" y="1009650"/>
            <a:ext cx="114300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Live Demo: Invest -&gt; Charge EV by Card -&gt; Claim Yield Instantly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609600"/>
            <a:ext cx="2470546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A580C"/>
                </a:solidFill>
                <a:latin typeface="Space Grotesk"/>
              </a:rPr>
              <a:t>SLIDE 05 / 10 • 0:40-2:20 LIVE END-TO-END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4125" y="609600"/>
            <a:ext cx="1607343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pace Grotesk"/>
              </a:rPr>
              <a:t>LIVE PROTOTYPE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4536" y="4033837"/>
            <a:ext cx="2988468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Space Grotesk"/>
              </a:rPr>
              <a:t>END-TO-END FLOW ON /#charge/374891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4486" y="4310062"/>
            <a:ext cx="3988593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94A3B8"/>
                </a:solidFill>
                <a:latin typeface="Plus Jakarta Sans"/>
              </a:rPr>
              <a:t>1. Back EV Hub (Card/USDC) -&gt; 2. Tap to Charge on Portrait Kiosk -&gt; 3. Claim Live USDC Yield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40922" y="2900362"/>
            <a:ext cx="5051077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 b="1" i="0" u="none">
                <a:solidFill>
                  <a:srgbClr val="0F172A"/>
                </a:solidFill>
                <a:latin typeface="Plus Jakarta Sans"/>
              </a:rPr>
              <a:t>Step 1: Fractional Backing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40922" y="3167062"/>
            <a:ext cx="5051077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475569"/>
                </a:solidFill>
                <a:latin typeface="Plus Jakarta Sans"/>
              </a:rPr>
              <a:t>Investor funds Solar EV Hub (#374891) via MoonPay Card or Direct USDC; position saved in PostgreSQL ledger.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40922" y="3605212"/>
            <a:ext cx="5051077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 b="1" i="0" u="none">
                <a:solidFill>
                  <a:srgbClr val="0F172A"/>
                </a:solidFill>
                <a:latin typeface="Plus Jakarta Sans"/>
              </a:rPr>
              <a:t>Step 2: Portrait EV Kiosk (#charge/374891)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0922" y="3871912"/>
            <a:ext cx="5051077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475569"/>
                </a:solidFill>
                <a:latin typeface="Plus Jakarta Sans"/>
              </a:rPr>
              <a:t>Driver taps once at the kiosk: 120x simulated meter runs, stops at target, and pays via Card/MoonPay.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0922" y="4310062"/>
            <a:ext cx="5051077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 b="1" i="0" u="none">
                <a:solidFill>
                  <a:srgbClr val="0F172A"/>
                </a:solidFill>
                <a:latin typeface="Plus Jakarta Sans"/>
              </a:rPr>
              <a:t>Step 3: Instant Micro-USDC Payout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0922" y="4576762"/>
            <a:ext cx="5051077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475569"/>
                </a:solidFill>
                <a:latin typeface="Plus Jakarta Sans"/>
              </a:rPr>
              <a:t>Portfolio updates in 0.8s via BroadcastChannel + API polling; investor clicks Claim Yield to credit wallet.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762000" y="1009650"/>
            <a:ext cx="5230599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2700" b="1" i="0" u="none" dirty="0">
                <a:solidFill>
                  <a:srgbClr val="0F172A"/>
                </a:solidFill>
                <a:latin typeface="Plus Jakarta Sans"/>
              </a:rPr>
              <a:t>Stack: Solana + NestJS + Drizzle PostgreSQL + MoonPay + Victron</a:t>
            </a:r>
            <a:endParaRPr sz="27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62000" y="609600"/>
            <a:ext cx="1218282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2563EB"/>
                </a:solidFill>
                <a:latin typeface="Space Grotesk"/>
              </a:rPr>
              <a:t>SLIDE 06 / 10 • TECH STACK</a:t>
            </a:r>
            <a:r>
              <a:rPr lang="en-US" sz="1050" b="1" i="0" u="none" dirty="0">
                <a:solidFill>
                  <a:srgbClr val="2563EB"/>
                </a:solidFill>
                <a:latin typeface="Space Grotesk"/>
              </a:rPr>
              <a:t>INFRASTRUCTURE</a:t>
            </a:r>
            <a:endParaRPr sz="1050" b="1" i="0" u="none" dirty="0">
              <a:solidFill>
                <a:srgbClr val="2563EB"/>
              </a:solidFill>
              <a:latin typeface="Space Grotesk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820400" y="609600"/>
            <a:ext cx="89535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pace Grotesk"/>
              </a:rPr>
              <a:t>Solana Anchor (PDA Escrow) • NestJS/Bun • Drizzle PostgreSQL • MoonPay Sandbox • Victron VRM • OTE/CNB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931914"/>
            <a:ext cx="3403550" cy="1822846"/>
          </a:xfrm>
          <a:prstGeom prst="roundRect">
            <a:avLst>
              <a:gd name="adj" fmla="val 627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94150" y="2931914"/>
            <a:ext cx="3403550" cy="1822846"/>
          </a:xfrm>
          <a:prstGeom prst="roundRect">
            <a:avLst>
              <a:gd name="adj" fmla="val 627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26300" y="2931914"/>
            <a:ext cx="3403550" cy="1822846"/>
          </a:xfrm>
          <a:prstGeom prst="roundRect">
            <a:avLst>
              <a:gd name="adj" fmla="val 627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25" y="3246239"/>
            <a:ext cx="257175" cy="2286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0375" y="3246239"/>
            <a:ext cx="228600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525" y="3246239"/>
            <a:ext cx="28575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1009650"/>
            <a:ext cx="114300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Business Model: Multi-Layer Infrastructure &amp; DeFi Yield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609600"/>
            <a:ext cx="2797968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59669"/>
                </a:solidFill>
                <a:latin typeface="Space Grotesk"/>
              </a:rPr>
              <a:t>SLIDE 07 / 10 • 2:20-2:50 BUSINESS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3200" y="609600"/>
            <a:ext cx="135255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pace Grotesk"/>
              </a:rPr>
              <a:t>REVENUE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27239"/>
            <a:ext cx="374206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3-Tier Cash Flow Waterfall (9% - 21% Base APY)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960614"/>
            <a:ext cx="2946350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1.5% protocol origination fee on funded hardware + 10% performance fee on net kWh &amp; arbitrage revenue.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0375" y="3627239"/>
            <a:ext cx="374206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Zero-Capex Host Adoption (Marinade + Kamino)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0375" y="3960614"/>
            <a:ext cx="2946350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Commercial hosts get hardware for $0 capex by posting staked mSOL collateral; idle USDC compounds in Kamino.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525" y="3627239"/>
            <a:ext cx="374206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BESS Prestice: $1.0M-$1.5M Annual Net EBITDA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525" y="3960614"/>
            <a:ext cx="2946350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8.6 MW utility battery in Czechia: 2.95-year capital payback, 25-35% IRR on CEPS balancing + OTE spreads.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519362"/>
            <a:ext cx="5105400" cy="2647950"/>
          </a:xfrm>
          <a:prstGeom prst="roundRect">
            <a:avLst>
              <a:gd name="adj" fmla="val 503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730847"/>
            <a:ext cx="5181600" cy="2224980"/>
          </a:xfrm>
          <a:prstGeom prst="roundRect">
            <a:avLst>
              <a:gd name="adj" fmla="val 5993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825" y="3121372"/>
            <a:ext cx="4476750" cy="3048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325" y="3667125"/>
            <a:ext cx="133350" cy="1524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325" y="4038600"/>
            <a:ext cx="133350" cy="1524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325" y="4519612"/>
            <a:ext cx="133350" cy="152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1009650"/>
            <a:ext cx="114300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Go-To-Market: From Iconic Smart Trees to Utility BESS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609600"/>
            <a:ext cx="272653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Space Grotesk"/>
              </a:rPr>
              <a:t>SLIDE 08 / 10 • DISTRIBUTION &amp;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9425" y="609600"/>
            <a:ext cx="107632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pace Grotesk"/>
              </a:rPr>
              <a:t>GO-TO-MARKET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6325" y="2871787"/>
            <a:ext cx="559593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Space Grotesk"/>
              </a:rPr>
              <a:t>THE ASK (2:50-3:00)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6325" y="3157537"/>
            <a:ext cx="5875734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Plus Jakarta Sans"/>
              </a:rPr>
              <a:t>Physical Branding Meets Institutional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0825" y="3578572"/>
            <a:ext cx="4572000" cy="643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35"/>
              </a:lnSpc>
            </a:pPr>
            <a:r>
              <a:rPr sz="1950" b="1" i="0" u="none">
                <a:solidFill>
                  <a:srgbClr val="1E3A8A"/>
                </a:solidFill>
                <a:latin typeface="Plus Jakarta Sans"/>
              </a:rPr>
              <a:t>"Treetino V1 is our visible urban Trojan horse; utility BESS &amp; EV hubs are our financial scale engine."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825" y="4355752"/>
            <a:ext cx="5591175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1D4ED8"/>
                </a:solidFill>
                <a:latin typeface="Plus Jakarta Sans"/>
              </a:rPr>
              <a:t>We acquire retail co-owners via visible public charging kiosks and B2B hosts via zero-capex PPA installations.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3975" y="3633787"/>
            <a:ext cx="5348287" cy="2190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Plus Jakarta Sans"/>
              </a:rPr>
              <a:t>Commercial Traction: 5 Treetino V1 units contracted with MKovo (delivering through Q2 2027).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3975" y="4005262"/>
            <a:ext cx="5348287" cy="2190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Plus Jakarta Sans"/>
              </a:rPr>
              <a:t>Grid Pipeline: 8.6 MW CEZ Distribuce interconnection secured at BESS Prestice.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3975" y="4376737"/>
            <a:ext cx="4324350" cy="4381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Plus Jakarta Sans"/>
              </a:rPr>
              <a:t>Our Ask: Banking/MiCA regulatory sandbox partners, European EV/BESS pilot hosts, and seed co-investors.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4057650"/>
            <a:ext cx="10668000" cy="923925"/>
          </a:xfrm>
          <a:prstGeom prst="roundRect">
            <a:avLst>
              <a:gd name="adj" fmla="val 12371"/>
            </a:avLst>
          </a:prstGeom>
          <a:solidFill>
            <a:srgbClr val="FAF5FF"/>
          </a:solidFill>
          <a:ln w="9525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2705100"/>
            <a:ext cx="3403550" cy="108585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94150" y="2705100"/>
            <a:ext cx="3403550" cy="108585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26300" y="2705100"/>
            <a:ext cx="3403550" cy="108585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7550" y="4386262"/>
            <a:ext cx="238125" cy="266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1009650"/>
            <a:ext cx="114300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Why Not a GPT Wrapper? Hardware Oracles + Deterministic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609600"/>
            <a:ext cx="2530078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7C3AED"/>
                </a:solidFill>
                <a:latin typeface="Space Grotesk"/>
              </a:rPr>
              <a:t>SLIDE 09 / 10 • DEFENSIBILITY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53675" y="609600"/>
            <a:ext cx="136207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pace Grotesk"/>
              </a:rPr>
              <a:t>MOAT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2981325"/>
            <a:ext cx="374206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Traditional Utilities &amp; Funds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295650"/>
            <a:ext cx="35638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Plus Jakarta Sans"/>
              </a:rPr>
              <a:t>Closed to retail, 90-day paper settlements, zero real-time telemetry transparency.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0375" y="2981325"/>
            <a:ext cx="374206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Pure Crypto / DeFi Protocols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0375" y="3295650"/>
            <a:ext cx="35638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Plus Jakarta Sans"/>
              </a:rPr>
              <a:t>Synthetic token emissions with no real-world cash flow and high wallet onboarding friction.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525" y="2981325"/>
            <a:ext cx="374206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Thin AI / GPT Wrappers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525" y="3295650"/>
            <a:ext cx="35638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Plus Jakarta Sans"/>
              </a:rPr>
              <a:t>Probabilistic text generation cannot custody funds, verify kWh meters, or conserve integer micro-USDC.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6325" y="4295775"/>
            <a:ext cx="5941218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7C3AED"/>
                </a:solidFill>
                <a:latin typeface="Space Grotesk"/>
              </a:rPr>
              <a:t>TREETINO ADVANTAGE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6325" y="4505325"/>
            <a:ext cx="5941218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581C87"/>
                </a:solidFill>
                <a:latin typeface="Plus Jakarta Sans"/>
              </a:rPr>
              <a:t>Cryptographic Victron/OTE telemetry + ACID PostgreSQL &amp; Solana PDA escrow + 1-tap MoonPay card rails.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881312"/>
            <a:ext cx="3403550" cy="1924050"/>
          </a:xfrm>
          <a:prstGeom prst="roundRect">
            <a:avLst>
              <a:gd name="adj" fmla="val 693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94150" y="2881312"/>
            <a:ext cx="3403550" cy="1924050"/>
          </a:xfrm>
          <a:prstGeom prst="roundRect">
            <a:avLst>
              <a:gd name="adj" fmla="val 6930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26300" y="2881312"/>
            <a:ext cx="3403550" cy="1924050"/>
          </a:xfrm>
          <a:prstGeom prst="roundRect">
            <a:avLst>
              <a:gd name="adj" fmla="val 693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1009650"/>
            <a:ext cx="114300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Opportunity: Tokenizing the European Grid Transition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09600"/>
            <a:ext cx="2024062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59669"/>
                </a:solidFill>
                <a:latin typeface="Space Grotesk"/>
              </a:rPr>
              <a:t>SLIDE 10 / 10 • MARKET SIZING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7050" y="609600"/>
            <a:ext cx="10287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pace Grotesk"/>
              </a:rPr>
              <a:t>EUROPEAN RWA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649" y="3233737"/>
            <a:ext cx="3516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64748B"/>
                </a:solidFill>
                <a:latin typeface="Space Grotesk"/>
              </a:rPr>
              <a:t>$3.0T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5649" y="3548062"/>
            <a:ext cx="3516250" cy="581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600" b="1" i="0" u="none">
                <a:solidFill>
                  <a:srgbClr val="0F172A"/>
                </a:solidFill>
                <a:latin typeface="Space Grotesk"/>
              </a:rPr>
              <a:t>$14B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649" y="4243387"/>
            <a:ext cx="351625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75" b="0" i="0" u="none">
                <a:solidFill>
                  <a:srgbClr val="475569"/>
                </a:solidFill>
                <a:latin typeface="Plus Jakarta Sans"/>
              </a:rPr>
              <a:t>Annual global clean energy, grid storage, and EV charging infrastructure investment.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7800" y="3233737"/>
            <a:ext cx="3516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59669"/>
                </a:solidFill>
                <a:latin typeface="Space Grotesk"/>
              </a:rPr>
              <a:t>€42B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7800" y="3548062"/>
            <a:ext cx="3516250" cy="581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600" b="1" i="0" u="none">
                <a:solidFill>
                  <a:srgbClr val="059669"/>
                </a:solidFill>
                <a:latin typeface="Space Grotesk"/>
              </a:rPr>
              <a:t>$3.2B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7800" y="4243387"/>
            <a:ext cx="351625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75" b="0" i="0" u="none">
                <a:solidFill>
                  <a:srgbClr val="166534"/>
                </a:solidFill>
                <a:latin typeface="Plus Jakarta Sans"/>
              </a:rPr>
              <a:t>Central &amp; Western European commercial BESS arbitrage, EV fast-charging plazas, and microgrids.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69950" y="3233737"/>
            <a:ext cx="3516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64748B"/>
                </a:solidFill>
                <a:latin typeface="Space Grotesk"/>
              </a:rPr>
              <a:t>€85M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69950" y="3548062"/>
            <a:ext cx="3516250" cy="581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600" b="1" i="0" u="none">
                <a:solidFill>
                  <a:srgbClr val="0F172A"/>
                </a:solidFill>
                <a:latin typeface="Space Grotesk"/>
              </a:rPr>
              <a:t>$450M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69950" y="4243387"/>
            <a:ext cx="351625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75" b="0" i="0" u="none">
                <a:solidFill>
                  <a:srgbClr val="475569"/>
                </a:solidFill>
                <a:latin typeface="Plus Jakarta Sans"/>
              </a:rPr>
              <a:t>Czech &amp; EU pipeline across utility BESS (Prestice 8.6 MW), EV hubs, and Treetino V1 commercial fleets.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407</Words>
  <Application>Microsoft Macintosh PowerPoint</Application>
  <PresentationFormat>Widescreen</PresentationFormat>
  <Paragraphs>94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Space Grotesk</vt:lpstr>
      <vt:lpstr>Plus Jakarta Sans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Cedric Maloux</cp:lastModifiedBy>
  <cp:revision>2</cp:revision>
  <dcterms:created xsi:type="dcterms:W3CDTF">2013-01-27T09:14:16Z</dcterms:created>
  <dcterms:modified xsi:type="dcterms:W3CDTF">2026-10-19T17:38:11Z</dcterms:modified>
  <cp:category/>
</cp:coreProperties>
</file>